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128016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41414"/>
                </a:solidFill>
              </a:defRPr>
            </a:pPr>
            <a:r>
              <a:t>TEAM</a:t>
            </a:r>
          </a:p>
          <a:p>
            <a:pPr algn="ctr">
              <a:defRPr sz="1200" b="1">
                <a:solidFill>
                  <a:srgbClr val="141414"/>
                </a:solidFill>
              </a:defRPr>
            </a:pPr>
            <a:r>
              <a:t>METERE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02C57"/>
                </a:solidFill>
              </a:defRPr>
            </a:pPr>
            <a:r>
              <a:t>RESEARCH AND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82880"/>
            <a:ext cx="2011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02C57"/>
                </a:solidFill>
              </a:defRPr>
            </a:pPr>
            <a:r>
              <a:t>SMART INDIA</a:t>
            </a:r>
            <a:br/>
            <a:r>
              <a:t>HACKATHON</a:t>
            </a:r>
            <a:br/>
            <a:r>
              <a:t>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                                        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2C57"/>
                </a:solidFill>
              </a:defRPr>
            </a:pPr>
            <a:r>
              <a:t>• Details / Links of the reference and research work foundational to FairCrop: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383280" cy="438912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BAD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102C57"/>
                </a:solidFill>
              </a:defRPr>
            </a:pPr>
            <a:r>
              <a:t>🏛️ Govt. Datasets &amp; APIs</a:t>
            </a:r>
          </a:p>
          <a:p>
            <a:pPr>
              <a:defRPr sz="1100" b="1">
                <a:solidFill>
                  <a:srgbClr val="FF6B00"/>
                </a:solidFill>
              </a:defRPr>
            </a:pPr>
            <a:r>
              <a:t>• e-NAM (National Agriculture Market):</a:t>
            </a:r>
          </a:p>
          <a:p>
            <a:pPr>
              <a:spcAft>
                <a:spcPts val="600"/>
              </a:spcAft>
              <a:defRPr sz="950">
                <a:solidFill>
                  <a:srgbClr val="212529"/>
                </a:solidFill>
              </a:defRPr>
            </a:pPr>
            <a:r>
              <a:t>Small Farmers Agribusiness Consortium (SFAC), Ministry of Agriculture &amp; Farmers Welfare, GoI. Integration standards across 1,361+ unified mandis.</a:t>
            </a:r>
            <a:br/>
            <a:r>
              <a:t>🔗 enam.gov.in</a:t>
            </a:r>
          </a:p>
          <a:p>
            <a:pPr>
              <a:defRPr sz="1100" b="1">
                <a:solidFill>
                  <a:srgbClr val="FF6B00"/>
                </a:solidFill>
              </a:defRPr>
            </a:pPr>
            <a:r>
              <a:t>• Agmarknet Portal (DMI):</a:t>
            </a:r>
          </a:p>
          <a:p>
            <a:pPr>
              <a:spcAft>
                <a:spcPts val="600"/>
              </a:spcAft>
              <a:defRPr sz="950">
                <a:solidFill>
                  <a:srgbClr val="212529"/>
                </a:solidFill>
              </a:defRPr>
            </a:pPr>
            <a:r>
              <a:t>Directorate of Marketing &amp; Inspection, GoI. Wholesale arrival volumes, minimum, maximum, and modal price datasets.</a:t>
            </a:r>
            <a:br/>
            <a:r>
              <a:t>🔗 agmarknet.gov.in</a:t>
            </a:r>
          </a:p>
          <a:p>
            <a:pPr>
              <a:defRPr sz="1100" b="1">
                <a:solidFill>
                  <a:srgbClr val="FF6B00"/>
                </a:solidFill>
              </a:defRPr>
            </a:pPr>
            <a:r>
              <a:t>• Open Govt Data (OGD) Platform:</a:t>
            </a:r>
          </a:p>
          <a:p>
            <a:pPr>
              <a:spcAft>
                <a:spcPts val="600"/>
              </a:spcAft>
              <a:defRPr sz="950">
                <a:solidFill>
                  <a:srgbClr val="212529"/>
                </a:solidFill>
              </a:defRPr>
            </a:pPr>
            <a:r>
              <a:t>Ministry of Electronics &amp; IT (MeitY). Daily APMC market price feeds and commodities statistics.</a:t>
            </a:r>
            <a:br/>
            <a:r>
              <a:t>🔗 data.gov.in</a:t>
            </a:r>
          </a:p>
          <a:p>
            <a:pPr>
              <a:defRPr sz="1100" b="1">
                <a:solidFill>
                  <a:srgbClr val="FF6B00"/>
                </a:solidFill>
              </a:defRPr>
            </a:pPr>
            <a:r>
              <a:t>• PM-KISAN &amp; PMFBY Guidelines:</a:t>
            </a:r>
          </a:p>
          <a:p>
            <a:pPr>
              <a:spcAft>
                <a:spcPts val="600"/>
              </a:spcAft>
              <a:defRPr sz="950">
                <a:solidFill>
                  <a:srgbClr val="212529"/>
                </a:solidFill>
              </a:defRPr>
            </a:pPr>
            <a:r>
              <a:t>DPI framework for Direct Benefit Transfers (DBT) and crop insurance risk mitigation.</a:t>
            </a:r>
            <a:br/>
            <a:r>
              <a:t>🔗 pmkisan.gov.in | pmfby.gov.in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383280" cy="438912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BAD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102C57"/>
                </a:solidFill>
              </a:defRPr>
            </a:pPr>
            <a:r>
              <a:t>📊 Policy Reports &amp; Market Studies</a:t>
            </a:r>
          </a:p>
          <a:p>
            <a:pPr>
              <a:defRPr sz="1100" b="1">
                <a:solidFill>
                  <a:srgbClr val="FF6B00"/>
                </a:solidFill>
              </a:defRPr>
            </a:pPr>
            <a:r>
              <a:t>• NITI Aayog &amp; NABARD (2024):</a:t>
            </a:r>
          </a:p>
          <a:p>
            <a:pPr>
              <a:spcAft>
                <a:spcPts val="600"/>
              </a:spcAft>
              <a:defRPr sz="950">
                <a:solidFill>
                  <a:srgbClr val="212529"/>
                </a:solidFill>
              </a:defRPr>
            </a:pPr>
            <a:r>
              <a:t>“Promoting Farmer Producer Organizations (FPOs) &amp; Strengthening Digital Public Infrastructure in Indian Agriculture.” (FPO collective bargaining increases farm-gate margins by 15–25%).</a:t>
            </a:r>
          </a:p>
          <a:p>
            <a:pPr>
              <a:defRPr sz="1100" b="1">
                <a:solidFill>
                  <a:srgbClr val="FF6B00"/>
                </a:solidFill>
              </a:defRPr>
            </a:pPr>
            <a:r>
              <a:t>• ICRIER Research Study:</a:t>
            </a:r>
          </a:p>
          <a:p>
            <a:pPr>
              <a:spcAft>
                <a:spcPts val="600"/>
              </a:spcAft>
              <a:defRPr sz="950">
                <a:solidFill>
                  <a:srgbClr val="212529"/>
                </a:solidFill>
              </a:defRPr>
            </a:pPr>
            <a:r>
              <a:t>“Agricultural Market Integration &amp; Price Volatility in India.” (Quantifies 18–30% middleman margin leakages and high spatial price dispersion across regional APMCs).</a:t>
            </a:r>
          </a:p>
          <a:p>
            <a:pPr>
              <a:defRPr sz="1100" b="1">
                <a:solidFill>
                  <a:srgbClr val="FF6B00"/>
                </a:solidFill>
              </a:defRPr>
            </a:pPr>
            <a:r>
              <a:t>• FAO &amp; World Bank Studies:</a:t>
            </a:r>
          </a:p>
          <a:p>
            <a:pPr>
              <a:spcAft>
                <a:spcPts val="600"/>
              </a:spcAft>
              <a:defRPr sz="950">
                <a:solidFill>
                  <a:srgbClr val="212529"/>
                </a:solidFill>
              </a:defRPr>
            </a:pPr>
            <a:r>
              <a:t>“Mitigating Post-Harvest Food Loss in Perishables via Direct Linkages.” (Direct contracting and cold-freight reduce perishable harvest wastage by 20–25%).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737360"/>
            <a:ext cx="3383280" cy="438912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BAD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102C57"/>
                </a:solidFill>
              </a:defRPr>
            </a:pPr>
            <a:r>
              <a:t>⚙️ Standards &amp; Technical References</a:t>
            </a:r>
          </a:p>
          <a:p>
            <a:pPr>
              <a:defRPr sz="1100" b="1">
                <a:solidFill>
                  <a:srgbClr val="FF6B00"/>
                </a:solidFill>
              </a:defRPr>
            </a:pPr>
            <a:r>
              <a:t>• ONDC Agri Protocol Specifications:</a:t>
            </a:r>
          </a:p>
          <a:p>
            <a:pPr>
              <a:spcAft>
                <a:spcPts val="600"/>
              </a:spcAft>
              <a:defRPr sz="950">
                <a:solidFill>
                  <a:srgbClr val="212529"/>
                </a:solidFill>
              </a:defRPr>
            </a:pPr>
            <a:r>
              <a:t>Open Network for Digital Commerce specifications for unbundled agri-buyer-seller discovery and fulfillment.</a:t>
            </a:r>
            <a:br/>
            <a:r>
              <a:t>🔗 ondc.org</a:t>
            </a:r>
          </a:p>
          <a:p>
            <a:pPr>
              <a:defRPr sz="1100" b="1">
                <a:solidFill>
                  <a:srgbClr val="FF6B00"/>
                </a:solidFill>
              </a:defRPr>
            </a:pPr>
            <a:r>
              <a:t>• Agmark Quality Grading Standards:</a:t>
            </a:r>
          </a:p>
          <a:p>
            <a:pPr>
              <a:spcAft>
                <a:spcPts val="600"/>
              </a:spcAft>
              <a:defRPr sz="950">
                <a:solidFill>
                  <a:srgbClr val="212529"/>
                </a:solidFill>
              </a:defRPr>
            </a:pPr>
            <a:r>
              <a:t>Agricultural Produce (Grading and Marking) Act, 1937. Parameterized moisture content %, purity grades (Grade A/B/C) and digital lot assaying.</a:t>
            </a:r>
          </a:p>
          <a:p>
            <a:pPr>
              <a:defRPr sz="1100" b="1">
                <a:solidFill>
                  <a:srgbClr val="FF6B00"/>
                </a:solidFill>
              </a:defRPr>
            </a:pPr>
            <a:r>
              <a:t>• ML Price Forecasting Research:</a:t>
            </a:r>
          </a:p>
          <a:p>
            <a:pPr>
              <a:spcAft>
                <a:spcPts val="600"/>
              </a:spcAft>
              <a:defRPr sz="950">
                <a:solidFill>
                  <a:srgbClr val="212529"/>
                </a:solidFill>
              </a:defRPr>
            </a:pPr>
            <a:r>
              <a:t>Time-series predictive models (ARIMA + LSTM neural networks) for APMC price trends &amp; automated Hold/Sell advisories.</a:t>
            </a:r>
          </a:p>
          <a:p>
            <a:pPr>
              <a:defRPr sz="1100" b="1">
                <a:solidFill>
                  <a:srgbClr val="FF6B00"/>
                </a:solidFill>
              </a:defRPr>
            </a:pPr>
            <a:r>
              <a:t>• Indian Contract Act (1872) &amp; Escrow:</a:t>
            </a:r>
          </a:p>
          <a:p>
            <a:pPr>
              <a:spcAft>
                <a:spcPts val="600"/>
              </a:spcAft>
              <a:defRPr sz="950">
                <a:solidFill>
                  <a:srgbClr val="212529"/>
                </a:solidFill>
              </a:defRPr>
            </a:pPr>
            <a:r>
              <a:t>Legal framework for digital offer-bidding lock and milestone-based secure fund release upon delivery inspection.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